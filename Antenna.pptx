
<file path=[Content_Types].xml><?xml version="1.0" encoding="utf-8"?>
<Types xmlns="http://schemas.openxmlformats.org/package/2006/content-types"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webp" ContentType="image/webp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4"/>
  </p:notesMasterIdLst>
  <p:sldIdLst>
    <p:sldId id="256" r:id="rId3"/>
    <p:sldId id="259" r:id="rId5"/>
    <p:sldId id="280" r:id="rId6"/>
    <p:sldId id="303" r:id="rId7"/>
    <p:sldId id="304" r:id="rId8"/>
    <p:sldId id="281" r:id="rId9"/>
    <p:sldId id="296" r:id="rId10"/>
    <p:sldId id="305" r:id="rId11"/>
    <p:sldId id="283" r:id="rId12"/>
    <p:sldId id="284" r:id="rId13"/>
    <p:sldId id="311" r:id="rId14"/>
    <p:sldId id="285" r:id="rId15"/>
    <p:sldId id="288" r:id="rId16"/>
    <p:sldId id="307" r:id="rId17"/>
    <p:sldId id="308" r:id="rId18"/>
    <p:sldId id="299" r:id="rId19"/>
    <p:sldId id="300" r:id="rId20"/>
    <p:sldId id="301" r:id="rId21"/>
    <p:sldId id="309" r:id="rId22"/>
    <p:sldId id="306" r:id="rId23"/>
    <p:sldId id="293" r:id="rId24"/>
    <p:sldId id="297" r:id="rId25"/>
    <p:sldId id="298" r:id="rId26"/>
    <p:sldId id="295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 autoAdjust="0"/>
    <p:restoredTop sz="95165" autoAdjust="0"/>
  </p:normalViewPr>
  <p:slideViewPr>
    <p:cSldViewPr snapToGrid="0">
      <p:cViewPr varScale="1">
        <p:scale>
          <a:sx n="82" d="100"/>
          <a:sy n="82" d="100"/>
        </p:scale>
        <p:origin x="63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0" Type="http://schemas.openxmlformats.org/officeDocument/2006/relationships/tableStyles" Target="tableStyles.xml"/><Relationship Id="rId3" Type="http://schemas.openxmlformats.org/officeDocument/2006/relationships/slide" Target="slides/slide1.xml"/><Relationship Id="rId29" Type="http://schemas.openxmlformats.org/officeDocument/2006/relationships/viewProps" Target="viewProps.xml"/><Relationship Id="rId28" Type="http://schemas.openxmlformats.org/officeDocument/2006/relationships/presProps" Target="presProps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rPr>
            </a:fld>
            <a:endParaRPr sz="1200" b="0" i="0" u="none" strike="noStrike" cap="none">
              <a:solidFill>
                <a:schemeClr val="dk1"/>
              </a:solidFill>
              <a:latin typeface="Calibri" panose="020F0502020204030204"/>
              <a:ea typeface="Calibri" panose="020F0502020204030204"/>
              <a:cs typeface="Calibri" panose="020F0502020204030204"/>
              <a:sym typeface="Calibri" panose="020F0502020204030204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0" name="Google Shape;90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4013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91" name="Google Shape;91;p1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238" cy="4525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PhAnim="0" showMasterSp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 panose="02020603050405020304"/>
              <a:buNone/>
            </a:pPr>
            <a:fld id="{00000000-1234-1234-1234-123412341234}" type="slidenum">
              <a:rPr lang="en-US" sz="1200" b="0" i="0" u="none" strike="noStrike" cap="none">
                <a:solidFill>
                  <a:srgbClr val="000000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</a:fld>
            <a:endParaRPr sz="1200" b="0" i="0" u="none" strike="noStrike" cap="none">
              <a:solidFill>
                <a:srgbClr val="000000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9" name="Google Shape;11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533400" y="763588"/>
            <a:ext cx="6705600" cy="37719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solidFill>
            <a:srgbClr val="FFFFFF"/>
          </a:solidFill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/>
          <a:lstStyle/>
          <a:p>
            <a:endParaRPr lang="en-IN"/>
          </a:p>
        </p:txBody>
      </p:sp>
      <p:sp>
        <p:nvSpPr>
          <p:cNvPr id="120" name="Google Shape;120;p4:notes"/>
          <p:cNvSpPr txBox="1">
            <a:spLocks noGrp="1"/>
          </p:cNvSpPr>
          <p:nvPr>
            <p:ph type="body" idx="1"/>
          </p:nvPr>
        </p:nvSpPr>
        <p:spPr>
          <a:xfrm>
            <a:off x="777875" y="4776788"/>
            <a:ext cx="6218100" cy="45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 panose="020F0502020204030204"/>
              <a:buNone/>
            </a:pPr>
            <a:endParaRPr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ustom Layout">
  <p:cSld name="Custom Layou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914401" y="2130425"/>
            <a:ext cx="10361084" cy="14684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70A458B-CEA5-42AD-9E2A-0022E3C6143D}" type="datetime3">
              <a:rPr lang="en-US" smtClean="0"/>
            </a:fld>
            <a:endParaRPr lang="en-US" smtClean="0"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Blank">
  <p:cSld name="BLANK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80C4F162-3B8F-4218-910E-2E31CD87A7D2}" type="datetime3">
              <a:rPr lang="en-US" smtClean="0"/>
            </a:fld>
            <a:endParaRPr lang="en-US" smtClean="0"/>
          </a:p>
        </p:txBody>
      </p:sp>
      <p:sp>
        <p:nvSpPr>
          <p:cNvPr id="27" name="Google Shape;27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Title Slide">
  <p:cSld name="TITLE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32" name="Google Shape;32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A3BF82DD-DDAA-4761-8129-67A78D482C26}" type="datetime3">
              <a:rPr lang="en-US" smtClean="0"/>
            </a:fld>
            <a:endParaRPr lang="en-US" smtClean="0"/>
          </a:p>
        </p:txBody>
      </p:sp>
      <p:sp>
        <p:nvSpPr>
          <p:cNvPr id="33" name="Google Shape;33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Section Header">
  <p:cSld name="SECTION_HEADER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 panose="020F0502020204030204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8" name="Google Shape;38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CA72535-2AE4-474E-9FD0-5AA7B9E8F176}" type="datetime3">
              <a:rPr lang="en-US" smtClean="0"/>
            </a:fld>
            <a:endParaRPr lang="en-US" smtClean="0"/>
          </a:p>
        </p:txBody>
      </p:sp>
      <p:sp>
        <p:nvSpPr>
          <p:cNvPr id="39" name="Google Shape;39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Two Content">
  <p:cSld name="TWO_OBJECTS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4" name="Google Shape;44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5" name="Google Shape;45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2EC4AB06-4EA3-442C-8C55-6B5A0C80A6EA}" type="datetime3">
              <a:rPr lang="en-US" smtClean="0"/>
            </a:fld>
            <a:endParaRPr lang="en-US" smtClean="0"/>
          </a:p>
        </p:txBody>
      </p:sp>
      <p:sp>
        <p:nvSpPr>
          <p:cNvPr id="46" name="Google Shape;46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Comparison">
  <p:cSld name="TWO_OBJECTS_WITH_TEX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8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1" name="Google Shape;51;p8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2" name="Google Shape;52;p8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/>
        </p:txBody>
      </p:sp>
      <p:sp>
        <p:nvSpPr>
          <p:cNvPr id="53" name="Google Shape;53;p8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4" name="Google Shape;5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EC040EB0-4192-425C-B43A-A102F9B9603A}" type="datetime3">
              <a:rPr lang="en-US" smtClean="0"/>
            </a:fld>
            <a:endParaRPr lang="en-US" smtClean="0"/>
          </a:p>
        </p:txBody>
      </p:sp>
      <p:sp>
        <p:nvSpPr>
          <p:cNvPr id="55" name="Google Shape;5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Title Only">
  <p:cSld name="TITLE_ONLY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03C7E0E2-2B92-4BA8-8A83-0D80A86E9221}" type="datetime3">
              <a:rPr lang="en-US" smtClean="0"/>
            </a:fld>
            <a:endParaRPr lang="en-US" smtClean="0"/>
          </a:p>
        </p:txBody>
      </p:sp>
      <p:sp>
        <p:nvSpPr>
          <p:cNvPr id="60" name="Google Shape;60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1" name="Google Shape;61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Content with Caption">
  <p:cSld name="OBJECT_WITH_CAPTIO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5" name="Google Shape;65;p10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6" name="Google Shape;6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EE1DC0C-CD91-4615-8386-4E4AEE6D9C53}" type="datetime3">
              <a:rPr lang="en-US" smtClean="0"/>
            </a:fld>
            <a:endParaRPr lang="en-US" smtClean="0"/>
          </a:p>
        </p:txBody>
      </p:sp>
      <p:sp>
        <p:nvSpPr>
          <p:cNvPr id="67" name="Google Shape;6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Picture with Caption">
  <p:cSld name="PICTURE_WITH_CAPTION_TEX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 panose="020F0502020204030204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11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IN"/>
          </a:p>
        </p:txBody>
      </p:sp>
      <p:sp>
        <p:nvSpPr>
          <p:cNvPr id="72" name="Google Shape;72;p11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3" name="Google Shape;7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C57E78B3-AC73-4989-ADF1-04656052966C}" type="datetime3">
              <a:rPr lang="en-US" smtClean="0"/>
            </a:fld>
            <a:endParaRPr lang="en-US" smtClean="0"/>
          </a:p>
        </p:txBody>
      </p:sp>
      <p:sp>
        <p:nvSpPr>
          <p:cNvPr id="74" name="Google Shape;7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5" name="Google Shape;7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Title and Vertical Text">
  <p:cSld name="VERTICAL_TEX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9" name="Google Shape;79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1123E29E-506E-4F43-95CD-62AC0848246A}" type="datetime3">
              <a:rPr lang="en-US" smtClean="0"/>
            </a:fld>
            <a:endParaRPr lang="en-US" smtClean="0"/>
          </a:p>
        </p:txBody>
      </p:sp>
      <p:sp>
        <p:nvSpPr>
          <p:cNvPr id="80" name="Google Shape;80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Vertical Title and Text">
  <p:cSld name="VERTICAL_TITLE_AND_VERTICAL_TEXT"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3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13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5" name="Google Shape;85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fld id="{79A04501-6E0D-438A-A93F-88750EEB5DEB}" type="datetime3">
              <a:rPr lang="en-US" smtClean="0"/>
            </a:fld>
            <a:endParaRPr lang="en-US" smtClean="0"/>
          </a:p>
        </p:txBody>
      </p:sp>
      <p:sp>
        <p:nvSpPr>
          <p:cNvPr id="86" name="Google Shape;86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 panose="020F0502020204030204"/>
              <a:buNone/>
              <a:defRPr sz="4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 panose="020B0604020202020204"/>
              <a:buChar char="•"/>
              <a:defRPr sz="2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Char char="•"/>
              <a:defRPr sz="24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 panose="020B0604020202020204"/>
              <a:buChar char="•"/>
              <a:defRPr sz="20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fld id="{8FECD91C-05BB-4C24-8890-6D96CD74B65A}" type="datetime3">
              <a:rPr lang="en-US" smtClean="0"/>
            </a:fld>
            <a:endParaRPr lang="en-US" smtClean="0"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/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 panose="020F0502020204030204"/>
                <a:ea typeface="Calibri" panose="020F0502020204030204"/>
                <a:cs typeface="Calibri" panose="020F0502020204030204"/>
                <a:sym typeface="Calibri" panose="020F050202020403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3.GIF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2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5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4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5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9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6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9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7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4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0.xml"/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3.web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"/>
          <p:cNvSpPr txBox="1">
            <a:spLocks noGrp="1"/>
          </p:cNvSpPr>
          <p:nvPr>
            <p:ph type="subTitle" idx="4294967295"/>
          </p:nvPr>
        </p:nvSpPr>
        <p:spPr>
          <a:xfrm>
            <a:off x="6736702" y="4553339"/>
            <a:ext cx="5198624" cy="109268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0800" indent="0" algn="just">
              <a:lnSpc>
                <a:spcPct val="110000"/>
              </a:lnSpc>
              <a:buNone/>
            </a:pPr>
            <a:r>
              <a:rPr 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MEMBERS : </a:t>
            </a:r>
            <a:endParaRPr lang="en-US" sz="24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AARTHI S                   – 8115U23EC001</a:t>
            </a: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MADHUMITHA T    </a:t>
            </a: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– 8115U23EC059</a:t>
            </a: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MARIYAYEE L</a:t>
            </a: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– 8115U23EC061</a:t>
            </a: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1" hangingPunct="1">
              <a:spcBef>
                <a:spcPct val="0"/>
              </a:spcBef>
              <a:buFontTx/>
              <a:buNone/>
            </a:pP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MEERA B</a:t>
            </a:r>
            <a:r>
              <a:rPr lang="en-IN" altLang="en-US" sz="2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– 8115U23EC062</a:t>
            </a:r>
            <a:endParaRPr lang="en-IN" altLang="en-US" sz="20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7" name="Google Shape;207;p1"/>
          <p:cNvSpPr/>
          <p:nvPr/>
        </p:nvSpPr>
        <p:spPr>
          <a:xfrm>
            <a:off x="1679575" y="-1684338"/>
            <a:ext cx="3543300" cy="35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93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sz="1800" b="0" i="0" u="none" strike="noStrike" cap="none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</p:txBody>
      </p:sp>
      <p:pic>
        <p:nvPicPr>
          <p:cNvPr id="208" name="Google Shape;208;p1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367251" y="356884"/>
            <a:ext cx="1204743" cy="12713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1"/>
          <p:cNvSpPr/>
          <p:nvPr/>
        </p:nvSpPr>
        <p:spPr>
          <a:xfrm>
            <a:off x="1102995" y="2230120"/>
            <a:ext cx="10250170" cy="15519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b" anchorCtr="0">
            <a:noAutofit/>
          </a:bodyPr>
          <a:lstStyle/>
          <a:p>
            <a:pPr marL="0" marR="0" lvl="0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altLang="en-US" sz="28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       </a:t>
            </a:r>
            <a:r>
              <a:rPr lang="en-US" sz="2800" b="1" i="0" u="none" strike="noStrike" cap="none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K.RAMAKRISHNAN COLLEGE OF ENGINEERING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r>
              <a:rPr lang="en-US" sz="18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(AUTONOMOUS)</a:t>
            </a:r>
            <a:endParaRPr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 panose="02020603050405020304"/>
              <a:buNone/>
            </a:pPr>
            <a:endParaRPr lang="en-GB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200"/>
              </a:spcAft>
            </a:pPr>
            <a:r>
              <a:rPr lang="en-GB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GB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ECB1323 - </a:t>
            </a:r>
            <a:r>
              <a:rPr lang="en-GB" sz="1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ANTENNA AND MILLIMETER WAVE COMMUNICATION</a:t>
            </a:r>
            <a:endParaRPr lang="en-GB" sz="18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spcAft>
                <a:spcPts val="200"/>
              </a:spcAft>
            </a:pPr>
            <a:endParaRPr lang="en-GB" sz="1800" b="0" i="0" u="none" strike="noStrike" cap="none" dirty="0">
              <a:solidFill>
                <a:schemeClr val="dk1"/>
              </a:solidFill>
              <a:latin typeface="Times New Roman" panose="02020603050405020304" pitchFamily="18" charset="0"/>
              <a:ea typeface="Calibri" panose="020F0502020204030204"/>
              <a:cs typeface="Times New Roman" panose="02020603050405020304" pitchFamily="18" charset="0"/>
              <a:sym typeface="Calibri" panose="020F0502020204030204"/>
            </a:endParaRPr>
          </a:p>
          <a:p>
            <a:pPr algn="ctr"/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Analysis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Dual-Band Podium-Shaped Microstrip Patch Antenna for </a:t>
            </a:r>
            <a:r>
              <a:rPr lang="en-IN" altLang="en-US" sz="24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n78 and n46 band applications</a:t>
            </a:r>
            <a:endParaRPr lang="en-IN" altLang="en-US" sz="24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0" name="Google Shape;210;p1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379710" y="376555"/>
            <a:ext cx="1696085" cy="937260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Date Placeholder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B9706CE7-841C-46A1-BDF7-4DE3C10FEDAA}" type="datetime3">
              <a:rPr lang="en-US" smtClean="0"/>
            </a:fld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718457" y="4755527"/>
            <a:ext cx="6132543" cy="14452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0800" indent="0" algn="just">
              <a:lnSpc>
                <a:spcPct val="110000"/>
              </a:lnSpc>
              <a:buNone/>
            </a:pPr>
            <a:r>
              <a:rPr lang="en-GB" altLang="en-US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lang="en-IN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UIDED BY :</a:t>
            </a:r>
            <a:endParaRPr lang="en-IN" altLang="en-GB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 algn="just">
              <a:lnSpc>
                <a:spcPct val="110000"/>
              </a:lnSpc>
              <a:buNone/>
            </a:pPr>
            <a:r>
              <a:rPr lang="en-IN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Dr.G.Kalpanadevi M.E.,Ph.D.,</a:t>
            </a:r>
            <a:endParaRPr lang="en-IN" altLang="en-GB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 algn="just">
              <a:lnSpc>
                <a:spcPct val="110000"/>
              </a:lnSpc>
              <a:buNone/>
            </a:pPr>
            <a:r>
              <a:rPr lang="en-IN" altLang="en-GB" sz="2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Associate Professor</a:t>
            </a:r>
            <a:endParaRPr lang="en-GB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0800" indent="0" algn="just">
              <a:lnSpc>
                <a:spcPct val="110000"/>
              </a:lnSpc>
              <a:buNone/>
            </a:pPr>
            <a:endParaRPr lang="en-GB" altLang="en-US" sz="2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3272155" y="250190"/>
            <a:ext cx="449389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200" b="1" i="0" strike="noStrike" cap="none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OVERVIEW</a:t>
            </a:r>
            <a:endParaRPr lang="en-IN" sz="3200" b="1" i="0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3"/>
          <p:cNvSpPr txBox="1"/>
          <p:nvPr/>
        </p:nvSpPr>
        <p:spPr>
          <a:xfrm>
            <a:off x="2034540" y="1782445"/>
            <a:ext cx="3901440" cy="48660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 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  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  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diagram with dimensions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Arial" panose="020B0604020202020204" pitchFamily="34" charset="0"/>
              <a:buNone/>
            </a:pPr>
            <a:endParaRPr lang="en-GB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6412230" y="1887220"/>
            <a:ext cx="6096000" cy="37846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</a:t>
            </a: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Specifications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</a:t>
            </a: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diagram with dimensions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alt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Design and analysis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Simulation results 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Conclusion  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Future scope 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References</a:t>
            </a:r>
            <a:endParaRPr lang="en-GB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GB" sz="20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213708" y="535653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GB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ABSTRACT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842135" y="1488440"/>
            <a:ext cx="8618855" cy="4338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his work presents the design and analysis of a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dual-band podium-shaped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microstrip patch antenna operating at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3.5 GHz and 5.3 GHz.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3.5 GHz frequency corresponds to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Sub-6 GHz 5G (n78 band)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supporting enhanced mobile broadband (eMBB), while the 5.3 GHz band is used for </a:t>
            </a:r>
            <a:r>
              <a:rPr lang="en-IN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n46 band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WLAN applications.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IN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podium-shaped geometry generates dual resonant frequencies within a compact structure. The antenna achieves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return loss (S11 &lt; -10 dB)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VSWR ≤ 2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 both operating frequencies, along with a stable radiation pattern and moderate gain.</a:t>
            </a:r>
            <a:endParaRPr lang="en-US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581025" y="309880"/>
            <a:ext cx="1127569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2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INTRODUCTION</a:t>
            </a:r>
            <a:endParaRPr lang="en-IN" sz="32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lang="en-IN" sz="32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2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MICROSTRIP PATCH ANTENNA </a:t>
            </a:r>
            <a:endParaRPr lang="en-IN" sz="32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581025" y="1833245"/>
            <a:ext cx="7296785" cy="45231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microstrip patch antenna consists of a conducting patch, dielectric substrate, and ground plane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antenna radiates due to fringing fields at the patch edges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Operates effectively in the 3–6 GHz frequency range, suitable for modern wireless systems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planar structure, making it ideal for compact RF designs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8218805" y="2393315"/>
            <a:ext cx="3752850" cy="2971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488315" y="449580"/>
            <a:ext cx="11275695" cy="95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2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 PODIUM SHAPED </a:t>
            </a:r>
            <a:endParaRPr lang="en-IN" sz="32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555115" y="1731645"/>
            <a:ext cx="9390380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rectangular microstrip patch gives only single resonance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Required operation at 3.5 GHz and 5.3 GHz needs dual-band behavior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podium-shaped geometry modifies the current distribution on the patch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different effective current path lengths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paths produce two resonant frequencies within the same structure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§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Achieves dual-band operation without increasing antenna size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838734" y="535653"/>
            <a:ext cx="6309174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2551430" y="1488592"/>
            <a:ext cx="11617009" cy="39693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Sub-6 GHz 5G (3.5 GHz – n78 band)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Used for enhanced mobile broadband (eMBB)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Supports high data rate, video streaming, and smart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n46 band 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(5.3 GHz band)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Enables high-speed indoor wireless communication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Dual-band wireless devices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Font typeface="Wingdings" panose="05000000000000000000" pitchFamily="2" charset="2"/>
              <a:buNone/>
            </a:pP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→ Supports both 5G and</a:t>
            </a:r>
            <a:r>
              <a:rPr lang="en-IN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Wireless apploiactions</a:t>
            </a:r>
            <a:r>
              <a:rPr lang="en-US" alt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single antenna</a:t>
            </a:r>
            <a:endParaRPr lang="en-US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0C4F162-3B8F-4218-910E-2E31CD87A7D2}" type="datetime3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187109" y="608741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953260" y="1699260"/>
          <a:ext cx="7931150" cy="4210050"/>
        </p:xfrm>
        <a:graphic>
          <a:graphicData uri="http://schemas.openxmlformats.org/drawingml/2006/table">
            <a:tbl>
              <a:tblPr/>
              <a:tblGrid>
                <a:gridCol w="527685"/>
                <a:gridCol w="1419225"/>
                <a:gridCol w="1496695"/>
                <a:gridCol w="1495425"/>
                <a:gridCol w="1496695"/>
                <a:gridCol w="1495425"/>
              </a:tblGrid>
              <a:tr h="701675"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Inference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(Existing Work)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 Advantage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67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Kumar (2020)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Slot-loaded patch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Achieves dual-band operation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design complexity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podium geometry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67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Singh (2021)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DGS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Improves bandwidth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Difficult fabrication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Easy PCB implementation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67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Lee (2019)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 patch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Reduces antenna size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Low gain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radiation performance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67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Sharma (2022)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Fractal geometry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Enables multiband operation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structure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geometry design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70167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Patel (2023)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Modified patch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Covers 5G &amp; WLAN bands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Larger size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More compact design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0C4F162-3B8F-4218-910E-2E31CD87A7D2}" type="datetime3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3187109" y="608741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  <a:endParaRPr lang="en-US"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graphicFrame>
        <p:nvGraphicFramePr>
          <p:cNvPr id="8" name="Table 7"/>
          <p:cNvGraphicFramePr/>
          <p:nvPr/>
        </p:nvGraphicFramePr>
        <p:xfrm>
          <a:off x="1988185" y="1510665"/>
          <a:ext cx="7973695" cy="4465320"/>
        </p:xfrm>
        <a:graphic>
          <a:graphicData uri="http://schemas.openxmlformats.org/drawingml/2006/table">
            <a:tbl>
              <a:tblPr/>
              <a:tblGrid>
                <a:gridCol w="759460"/>
                <a:gridCol w="1442720"/>
                <a:gridCol w="1442720"/>
                <a:gridCol w="1442720"/>
                <a:gridCol w="1443355"/>
                <a:gridCol w="1442720"/>
              </a:tblGrid>
              <a:tr h="847090"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 (Year)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Technique Used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Key Inference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Limitation (Existing Work)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Proposed Work Advantage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135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Zhang (2021)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Slot technique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Dual-band achieved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Matching issues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S11 (&lt; -10 dB)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135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Ahmed (2020)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 design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Size reduction achieved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Limited bandwidth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Effective dual-band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4709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Rao (2022)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Stub-loaded patch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Multiband operation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matching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Better impedance matching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64135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 (2023)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 gain design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gain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Increased size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Compact structure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84709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Verma (2021)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Fractal antenna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Wide frequency coverage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Complex fabrication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Simple podium structure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213708" y="535653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2" name="Rectangle 1"/>
          <p:cNvSpPr>
            <a:spLocks noChangeArrowheads="1"/>
          </p:cNvSpPr>
          <p:nvPr/>
        </p:nvSpPr>
        <p:spPr bwMode="auto">
          <a:xfrm>
            <a:off x="1555115" y="1777365"/>
            <a:ext cx="9193530" cy="2584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design a podium-shaped microstrip patch antenna for dual-band operation at 3.5 GHz (n78 band) and 5.3 GHz (n46 band)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achieve good impedance matching (S11 &lt; -10 dB) and stable radiation characteristics in a compact structure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3058258" y="535653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>
              <a:buSzPts val="2800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METHOD</a:t>
            </a:r>
            <a:endParaRPr lang="en-IN"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271905" y="1735455"/>
            <a:ext cx="10081895" cy="3969385"/>
          </a:xfrm>
          <a:prstGeom prst="rect">
            <a:avLst/>
          </a:prstGeom>
        </p:spPr>
        <p:txBody>
          <a:bodyPr wrap="square">
            <a:spAutoFit/>
          </a:bodyPr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To propose a podium-shaped microstrip patch antenna for dual-band operation at 3.5 GHz and 5.3 GHz. The design uses a stepped geometry to create multiple current paths, resulting in dual resonance within a compact structure.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Wingdings" panose="05000000000000000000" charset="0"/>
              <a:buChar char="Ø"/>
            </a:pPr>
            <a:r>
              <a:rPr lang="en-US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The antenna achieves good impedance matching (S11 &lt; -10 dB) and maintains VSWR ≤ 2, with stable radiation characteristics, ensuring effective dual-band performance.</a:t>
            </a:r>
            <a:endParaRPr lang="en-US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436992" y="546286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>
              <a:buSzPts val="2800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SPECIFICATIONS</a:t>
            </a:r>
            <a:endParaRPr lang="en-IN"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2" name="Text Box 1"/>
          <p:cNvSpPr txBox="1"/>
          <p:nvPr/>
        </p:nvSpPr>
        <p:spPr>
          <a:xfrm>
            <a:off x="1987550" y="1877695"/>
            <a:ext cx="9366250" cy="3293110"/>
          </a:xfrm>
          <a:prstGeom prst="rect">
            <a:avLst/>
          </a:prstGeom>
        </p:spPr>
        <p:txBody>
          <a:bodyPr wrap="square">
            <a:noAutofit/>
          </a:bodyPr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Antenna Type: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Podium-shaped Microstrip Patch Antenna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Substrate: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FR4 (εr = 4.4, thickness = 1.6 mm)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Conducting Material: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Copper used for both patch and ground plane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Feeding Method: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Microstrip line feed for proper impedance matching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Operating Frequencies: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 3.5 GHz and 5.3 GHz</a:t>
            </a:r>
            <a:endParaRPr lang="en-US" altLang="zh-CN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</a:pPr>
            <a:r>
              <a:rPr lang="en-US" altLang="zh-CN" sz="2400" b="1">
                <a:latin typeface="Times New Roman" panose="02020603050405020304" pitchFamily="18" charset="0"/>
                <a:cs typeface="Times New Roman" panose="02020603050405020304" pitchFamily="18" charset="0"/>
              </a:rPr>
              <a:t>Application Bands: </a:t>
            </a:r>
            <a:r>
              <a:rPr lang="en-US" altLang="zh-CN" sz="2400">
                <a:latin typeface="Times New Roman" panose="02020603050405020304" pitchFamily="18" charset="0"/>
                <a:cs typeface="Times New Roman" panose="02020603050405020304" pitchFamily="18" charset="0"/>
              </a:rPr>
              <a:t>Sub-6 GHz 5G </a:t>
            </a:r>
            <a:r>
              <a:rPr lang="en-IN" altLang="en-US" sz="2400">
                <a:latin typeface="Times New Roman" panose="02020603050405020304" pitchFamily="18" charset="0"/>
                <a:cs typeface="Times New Roman" panose="02020603050405020304" pitchFamily="18" charset="0"/>
              </a:rPr>
              <a:t>n78 band and n46 bands.</a:t>
            </a:r>
            <a:endParaRPr lang="en-IN" altLang="en-US" sz="24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1424763" y="491702"/>
            <a:ext cx="9505507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>
              <a:buSzPts val="2800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DIAGRAM WITH DIMENSIONS</a:t>
            </a:r>
            <a:endParaRPr lang="en-IN"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598502" y="35235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graphicFrame>
        <p:nvGraphicFramePr>
          <p:cNvPr id="2" name="Table 1"/>
          <p:cNvGraphicFramePr/>
          <p:nvPr/>
        </p:nvGraphicFramePr>
        <p:xfrm>
          <a:off x="3031490" y="1717675"/>
          <a:ext cx="6243955" cy="4372610"/>
        </p:xfrm>
        <a:graphic>
          <a:graphicData uri="http://schemas.openxmlformats.org/drawingml/2006/table">
            <a:tbl>
              <a:tblPr/>
              <a:tblGrid>
                <a:gridCol w="645795"/>
                <a:gridCol w="3094990"/>
                <a:gridCol w="2503170"/>
              </a:tblGrid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 Description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 (mm)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Top patch width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step horizontal length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step horizontal length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16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Left vertical height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35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Right vertical height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25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 left horizontal length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20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Bottom right horizontal length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15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 line width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 line length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97510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Feed connection width (top)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 mm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975708" y="449293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>
              <a:buSzPts val="2800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DIAGRAM</a:t>
            </a:r>
            <a:endParaRPr lang="en-IN"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6405" y="1488440"/>
            <a:ext cx="4379595" cy="458152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5720" y="1596390"/>
            <a:ext cx="5318760" cy="437007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724071" y="546285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SIMULATION RESULTS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87857" y="2101755"/>
            <a:ext cx="9369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 Box 2"/>
          <p:cNvSpPr txBox="1"/>
          <p:nvPr/>
        </p:nvSpPr>
        <p:spPr>
          <a:xfrm>
            <a:off x="5394960" y="1254760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VSWR</a:t>
            </a:r>
            <a:endParaRPr lang="en-IN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9" name="Table 8"/>
          <p:cNvGraphicFramePr/>
          <p:nvPr/>
        </p:nvGraphicFramePr>
        <p:xfrm>
          <a:off x="4269105" y="5513705"/>
          <a:ext cx="5347335" cy="502920"/>
        </p:xfrm>
        <a:graphic>
          <a:graphicData uri="http://schemas.openxmlformats.org/drawingml/2006/table">
            <a:tbl>
              <a:tblPr/>
              <a:tblGrid>
                <a:gridCol w="839470"/>
                <a:gridCol w="1502410"/>
                <a:gridCol w="1503045"/>
              </a:tblGrid>
              <a:tr h="0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(GHz)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VSWR Value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1.46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1" name="Picture 10" descr="Screenshot 2026-04-15 11223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4885" y="1826260"/>
            <a:ext cx="8032750" cy="347599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724071" y="546285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SIMULATION RESULTS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87857" y="2101755"/>
            <a:ext cx="9369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71370" y="1936750"/>
            <a:ext cx="8049260" cy="2988310"/>
          </a:xfrm>
          <a:prstGeom prst="rect">
            <a:avLst/>
          </a:prstGeom>
        </p:spPr>
      </p:pic>
      <p:sp>
        <p:nvSpPr>
          <p:cNvPr id="3" name="Text Box 2"/>
          <p:cNvSpPr txBox="1"/>
          <p:nvPr/>
        </p:nvSpPr>
        <p:spPr>
          <a:xfrm>
            <a:off x="4726940" y="147637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S-PARAMETERS</a:t>
            </a:r>
            <a:endParaRPr lang="en-IN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7" name="Table 6"/>
          <p:cNvGraphicFramePr/>
          <p:nvPr/>
        </p:nvGraphicFramePr>
        <p:xfrm>
          <a:off x="4083050" y="5202555"/>
          <a:ext cx="4196080" cy="835660"/>
        </p:xfrm>
        <a:graphic>
          <a:graphicData uri="http://schemas.openxmlformats.org/drawingml/2006/table">
            <a:tbl>
              <a:tblPr/>
              <a:tblGrid>
                <a:gridCol w="845185"/>
                <a:gridCol w="1675130"/>
                <a:gridCol w="1675765"/>
              </a:tblGrid>
              <a:tr h="275590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(GHz)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S11 (dB)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7559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-17.93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28448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5.36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-22.11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724071" y="546285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SIMULATION RESULTS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87857" y="2101755"/>
            <a:ext cx="9369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9775" y="1715135"/>
            <a:ext cx="7966710" cy="3300095"/>
          </a:xfrm>
          <a:prstGeom prst="rect">
            <a:avLst/>
          </a:prstGeom>
        </p:spPr>
      </p:pic>
      <p:sp>
        <p:nvSpPr>
          <p:cNvPr id="9" name="Text Box 8"/>
          <p:cNvSpPr txBox="1"/>
          <p:nvPr/>
        </p:nvSpPr>
        <p:spPr>
          <a:xfrm>
            <a:off x="3987800" y="1254760"/>
            <a:ext cx="589343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IN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RADIATION EFFICIENCY</a:t>
            </a:r>
            <a:endParaRPr lang="en-IN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3581400" y="5139690"/>
          <a:ext cx="4555490" cy="1143000"/>
        </p:xfrm>
        <a:graphic>
          <a:graphicData uri="http://schemas.openxmlformats.org/drawingml/2006/table">
            <a:tbl>
              <a:tblPr/>
              <a:tblGrid>
                <a:gridCol w="959485"/>
                <a:gridCol w="1798320"/>
                <a:gridCol w="1797685"/>
              </a:tblGrid>
              <a:tr h="348615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(GHz)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Radiation Efficiency (dB)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814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-3.30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5814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-3.63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724071" y="546285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SIMULATION RESULTS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87857" y="2101755"/>
            <a:ext cx="9369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 descr="Screenshot 2026-04-08 15222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855" y="1696720"/>
            <a:ext cx="5718175" cy="2645410"/>
          </a:xfrm>
          <a:prstGeom prst="rect">
            <a:avLst/>
          </a:prstGeom>
        </p:spPr>
      </p:pic>
      <p:sp>
        <p:nvSpPr>
          <p:cNvPr id="7" name="Text Box 6"/>
          <p:cNvSpPr txBox="1"/>
          <p:nvPr/>
        </p:nvSpPr>
        <p:spPr>
          <a:xfrm>
            <a:off x="3416935" y="1149350"/>
            <a:ext cx="6953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RADIATION PATTERN - FARFIELD (2D)</a:t>
            </a:r>
            <a:endParaRPr lang="en-IN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3676650" y="4539615"/>
          <a:ext cx="4933950" cy="2120900"/>
        </p:xfrm>
        <a:graphic>
          <a:graphicData uri="http://schemas.openxmlformats.org/drawingml/2006/table">
            <a:tbl>
              <a:tblPr/>
              <a:tblGrid>
                <a:gridCol w="2466975"/>
                <a:gridCol w="2466975"/>
              </a:tblGrid>
              <a:tr h="424180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2418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3.48 GHz</a:t>
                      </a:r>
                      <a:r>
                        <a:rPr lang="en-IN" altLang="en-US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&amp; 5.30 GHz</a:t>
                      </a:r>
                      <a:endParaRPr lang="en-I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2418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Radiation Type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Broadside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2418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Pattern Shape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Nearly Omnidirectional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2418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Main Lobe Direction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 to patch (0°)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724071" y="546285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SIMULATION RESULTS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87857" y="2101755"/>
            <a:ext cx="9369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 descr="Screenshot 2026-04-08 15234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450" y="1986280"/>
            <a:ext cx="7466965" cy="273177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4547870" y="1402080"/>
            <a:ext cx="6953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TOTAL EFFICIENCY</a:t>
            </a:r>
            <a:endParaRPr lang="en-IN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3" name="Table 2"/>
          <p:cNvGraphicFramePr/>
          <p:nvPr/>
        </p:nvGraphicFramePr>
        <p:xfrm>
          <a:off x="2794635" y="4951730"/>
          <a:ext cx="7495580" cy="1370965"/>
        </p:xfrm>
        <a:graphic>
          <a:graphicData uri="http://schemas.openxmlformats.org/drawingml/2006/table">
            <a:tbl>
              <a:tblPr/>
              <a:tblGrid>
                <a:gridCol w="2287905"/>
                <a:gridCol w="2287905"/>
                <a:gridCol w="2287905"/>
              </a:tblGrid>
              <a:tr h="418465"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(GHz)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Efficiency (dB)</a:t>
                      </a:r>
                      <a:endParaRPr lang="en-US" altLang="zh-CN" sz="18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846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-3.40 dB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418465"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5.30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8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-3.95 dB</a:t>
                      </a:r>
                      <a:endParaRPr lang="en-US" altLang="zh-CN" sz="18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724071" y="546285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IN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SIMULATION RESULTS</a:t>
            </a: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sp>
        <p:nvSpPr>
          <p:cNvPr id="4" name="TextBox 3"/>
          <p:cNvSpPr txBox="1"/>
          <p:nvPr/>
        </p:nvSpPr>
        <p:spPr>
          <a:xfrm>
            <a:off x="1787857" y="2101755"/>
            <a:ext cx="936942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 Box 7"/>
          <p:cNvSpPr txBox="1"/>
          <p:nvPr/>
        </p:nvSpPr>
        <p:spPr>
          <a:xfrm>
            <a:off x="4547870" y="1402080"/>
            <a:ext cx="6953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GAIN &amp; DIRECTIVITY</a:t>
            </a:r>
            <a:endParaRPr lang="en-IN" altLang="en-US" sz="2400">
              <a:solidFill>
                <a:schemeClr val="accent1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pic>
        <p:nvPicPr>
          <p:cNvPr id="3" name="Picture 2" descr="Screenshot 2026-04-08 15182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0910" y="2485390"/>
            <a:ext cx="3965575" cy="2314575"/>
          </a:xfrm>
          <a:prstGeom prst="rect">
            <a:avLst/>
          </a:prstGeom>
        </p:spPr>
      </p:pic>
      <p:pic>
        <p:nvPicPr>
          <p:cNvPr id="7" name="Picture 6" descr="Screenshot 2026-04-08 15194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0080" y="2576195"/>
            <a:ext cx="3962400" cy="2247265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381000" y="1814830"/>
            <a:ext cx="6953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3.5 GHz :</a:t>
            </a:r>
            <a:endParaRPr lang="en-I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sp>
        <p:nvSpPr>
          <p:cNvPr id="11" name="Text Box 10"/>
          <p:cNvSpPr txBox="1"/>
          <p:nvPr/>
        </p:nvSpPr>
        <p:spPr>
          <a:xfrm>
            <a:off x="6384925" y="1996440"/>
            <a:ext cx="695325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IN" altLang="en-US" sz="240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At 5.3 GHz :</a:t>
            </a:r>
            <a:endParaRPr lang="en-IN" altLang="en-US" sz="240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</p:txBody>
      </p:sp>
      <p:graphicFrame>
        <p:nvGraphicFramePr>
          <p:cNvPr id="2" name="Table 1"/>
          <p:cNvGraphicFramePr/>
          <p:nvPr/>
        </p:nvGraphicFramePr>
        <p:xfrm>
          <a:off x="930275" y="5045075"/>
          <a:ext cx="3966210" cy="1213485"/>
        </p:xfrm>
        <a:graphic>
          <a:graphicData uri="http://schemas.openxmlformats.org/drawingml/2006/table">
            <a:tbl>
              <a:tblPr/>
              <a:tblGrid>
                <a:gridCol w="1322070"/>
                <a:gridCol w="1322070"/>
                <a:gridCol w="1322070"/>
              </a:tblGrid>
              <a:tr h="464820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(GHz)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 (dBi)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465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2.3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401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2.0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/>
          <p:nvPr/>
        </p:nvGraphicFramePr>
        <p:xfrm>
          <a:off x="6981190" y="5045075"/>
          <a:ext cx="3971925" cy="1168400"/>
        </p:xfrm>
        <a:graphic>
          <a:graphicData uri="http://schemas.openxmlformats.org/drawingml/2006/table">
            <a:tbl>
              <a:tblPr/>
              <a:tblGrid>
                <a:gridCol w="1323975"/>
                <a:gridCol w="1323975"/>
                <a:gridCol w="1323975"/>
              </a:tblGrid>
              <a:tr h="370840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S.No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Frequency (GHz)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Directivity (dBi)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4.8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370840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4.5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436992" y="546286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>
              <a:buSzPts val="2800"/>
            </a:pPr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AND ANALYSIS</a:t>
            </a:r>
            <a:endParaRPr lang="en-IN"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graphicFrame>
        <p:nvGraphicFramePr>
          <p:cNvPr id="3" name="Table 2"/>
          <p:cNvGraphicFramePr/>
          <p:nvPr/>
        </p:nvGraphicFramePr>
        <p:xfrm>
          <a:off x="2454275" y="1744345"/>
          <a:ext cx="7343140" cy="4536440"/>
        </p:xfrm>
        <a:graphic>
          <a:graphicData uri="http://schemas.openxmlformats.org/drawingml/2006/table">
            <a:tbl>
              <a:tblPr/>
              <a:tblGrid>
                <a:gridCol w="1944370"/>
                <a:gridCol w="1799590"/>
                <a:gridCol w="1799590"/>
                <a:gridCol w="1799590"/>
              </a:tblGrid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Parameter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3.5 GHz Value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5.3 GHz Value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 b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Inference</a:t>
                      </a:r>
                      <a:endParaRPr lang="en-US" altLang="zh-CN" sz="1400" b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Return Loss (S11)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-17.93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-22.11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Good matching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VSWR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1.30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1.46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Efficient transmission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Gain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2.3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2.0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gain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Directivity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4.8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4.5 dBi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directivity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Efficiency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-3.40 dB (~45%)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-3.95 dB (~40%)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Moderate efficiency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Radiation Efficiency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-3.30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~ -3.63 dB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Acceptable radiation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  <a:tr h="567055"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Radiation Pattern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Omnidirectional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Omnidirectional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/>
                    <a:p>
                      <a:pPr algn="ctr"/>
                      <a:r>
                        <a:rPr lang="en-US" altLang="zh-CN" sz="14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Stable radiation</a:t>
                      </a:r>
                      <a:endParaRPr lang="en-US" altLang="zh-CN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 anchorCtr="0">
                    <a:lnL w="12700">
                      <a:solidFill>
                        <a:schemeClr val="tx1"/>
                      </a:solidFill>
                      <a:prstDash val="solid"/>
                    </a:lnL>
                    <a:lnR w="12700">
                      <a:solidFill>
                        <a:schemeClr val="tx1"/>
                      </a:solidFill>
                      <a:prstDash val="solid"/>
                    </a:lnR>
                    <a:lnT w="12700">
                      <a:solidFill>
                        <a:schemeClr val="tx1"/>
                      </a:solidFill>
                      <a:prstDash val="solid"/>
                    </a:lnT>
                    <a:lnB w="12700">
                      <a:solidFill>
                        <a:schemeClr val="tx1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 Box 3"/>
          <p:cNvSpPr txBox="1"/>
          <p:nvPr/>
        </p:nvSpPr>
        <p:spPr>
          <a:xfrm>
            <a:off x="2454275" y="1254760"/>
            <a:ext cx="691705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Antenna Size ≈ </a:t>
            </a:r>
            <a:r>
              <a:rPr lang="en-IN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en-US" sz="1800" b="1">
                <a:latin typeface="Times New Roman" panose="02020603050405020304" pitchFamily="18" charset="0"/>
                <a:cs typeface="Times New Roman" panose="02020603050405020304" pitchFamily="18" charset="0"/>
              </a:rPr>
              <a:t>5 mm × 40 mm</a:t>
            </a:r>
            <a:endParaRPr lang="en-US" sz="1800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213708" y="535653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lvl="0" algn="ctr">
              <a:buSzPts val="2800"/>
            </a:pPr>
            <a:endParaRPr lang="en-US" sz="3600" b="1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868151" y="726434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3600" b="1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7" name="Rectangle 1"/>
          <p:cNvSpPr>
            <a:spLocks noChangeArrowheads="1"/>
          </p:cNvSpPr>
          <p:nvPr/>
        </p:nvSpPr>
        <p:spPr bwMode="auto">
          <a:xfrm>
            <a:off x="2213610" y="1673860"/>
            <a:ext cx="8155940" cy="36531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no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presents a podium-shaped microstrip patch antenna achieving dual-band operation at 3.5 GHz and 5.3 GHz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Dual resonance is obtained by modifying surface current distribution and creating multiple current paths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Achieves good impedance matching with S11 = -17.9 dB and -22.1 dB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Maintains VSWR ≤ 2, ensuring efficient power transmission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Exhibits stable and nearly omnidirectional radiation pattern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Shows moderate total and radiation efficiency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marR="0" lvl="0" indent="-28575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charset="0"/>
              <a:buChar char="Ø"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proposed work demonstrates a more efficient and practical solution for integrating 5G (n78) and WLAN (n46) bands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0C4F162-3B8F-4218-910E-2E31CD87A7D2}" type="datetime3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7" name="TextBox 6"/>
          <p:cNvSpPr txBox="1"/>
          <p:nvPr/>
        </p:nvSpPr>
        <p:spPr>
          <a:xfrm>
            <a:off x="2822198" y="608741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FUTURE SCOPE</a:t>
            </a:r>
            <a:endParaRPr lang="en-US"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8" name="Rectangle 1"/>
          <p:cNvSpPr>
            <a:spLocks noChangeArrowheads="1"/>
          </p:cNvSpPr>
          <p:nvPr/>
        </p:nvSpPr>
        <p:spPr bwMode="auto">
          <a:xfrm>
            <a:off x="2151040" y="1254664"/>
            <a:ext cx="8453755" cy="47999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 gain using antenna array or parasitic elements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 bandwidth using slot techniques or advanced substrates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Increase efficiency by replacing FR4 with low-loss materials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Further miniaturize the antenna using compact design techniques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Extend the design for multiband or wideband operation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Integrate with real-time 5G and WLAN devices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Optimize design using AI/optimization algorithms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Develop for practical fabrication and measurement validation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80C4F162-3B8F-4218-910E-2E31CD87A7D2}" type="datetime3">
              <a:rPr lang="en-US" smtClean="0"/>
            </a:fld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4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TextBox 8"/>
          <p:cNvSpPr txBox="1"/>
          <p:nvPr/>
        </p:nvSpPr>
        <p:spPr>
          <a:xfrm>
            <a:off x="3046921" y="403219"/>
            <a:ext cx="609777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r>
              <a:rPr lang="en-US" sz="3600" b="1" i="0" u="none" strike="noStrike" cap="none" dirty="0">
                <a:solidFill>
                  <a:srgbClr val="FF0066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Arial" panose="020B0604020202020204"/>
              </a:rPr>
              <a:t>REFERENCES</a:t>
            </a:r>
            <a:endParaRPr lang="en-US"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sp>
        <p:nvSpPr>
          <p:cNvPr id="6" name="Text Box 5"/>
          <p:cNvSpPr txBox="1"/>
          <p:nvPr/>
        </p:nvSpPr>
        <p:spPr>
          <a:xfrm>
            <a:off x="1484630" y="1254760"/>
            <a:ext cx="9723120" cy="5539105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en-US" altLang="zh-CN" sz="2000">
                <a:latin typeface="Times New Roman" panose="02020603050405020304" pitchFamily="18" charset="0"/>
                <a:cs typeface="Times New Roman" panose="02020603050405020304" pitchFamily="18" charset="0"/>
              </a:rPr>
              <a:t>[1</a:t>
            </a: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] C. A. Balanis, Antenna Theory: Analysis and Design, 4th ed., Hoboken, NJ, USA: Wiley, 2016.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[2] K. L. Wong, Compact and Broadband Microstrip Antennas, New York, NY, USA: Wiley, 2002.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[3] D. M. Pozar, “Microstrip antennas,” Proceedings of the IEEE, vol. 80, no. 1, pp. 79–91, Jan. 1992.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[4] R. Garg, P. Bhartia, I. Bahl, and A. Ittipiboon, Microstrip Antenna Design Handbook, Norwood, MA, USA: Artech House, 2001.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[5] J. R. James and P. S. Hall, Handbook of Microstrip Antennas, London, U.K.: IET, 1989.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[6] S. Maci and G. B. Gentili, “Dual-frequency patch antennas,” IEEE Antennas and Propagation Magazine, vol. 39, no. 6, pp. 13–20, Dec. 1997.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[7] H. Wong, K. M. Luk, and C. H. Chan, “Microstrip patch antennas for wireless applications,” IEEE Access, vol. 5, pp. 254–267, 2017.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1800">
                <a:latin typeface="Times New Roman" panose="02020603050405020304" pitchFamily="18" charset="0"/>
                <a:cs typeface="Times New Roman" panose="02020603050405020304" pitchFamily="18" charset="0"/>
              </a:rPr>
              <a:t>[8] A. Kumar, R. Singh, and P. Sharma, “Design of dual-band microstrip patch antenna for 5G and WLAN applications,” International Journal of RF and Microwave Engineering, vol. 30, no. 5, pp. 1–8, 2020.</a:t>
            </a:r>
            <a:endParaRPr lang="en-US" altLang="zh-CN" sz="18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3"/>
          <p:cNvSpPr/>
          <p:nvPr/>
        </p:nvSpPr>
        <p:spPr>
          <a:xfrm>
            <a:off x="2213708" y="535653"/>
            <a:ext cx="69342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5000" rIns="90000" bIns="450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Times New Roman" panose="02020603050405020304"/>
              <a:buNone/>
            </a:pPr>
            <a:endParaRPr sz="3600" b="1" i="0" u="none" strike="noStrike" cap="none" dirty="0">
              <a:solidFill>
                <a:srgbClr val="FF0066"/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Arial" panose="020B0604020202020204"/>
            </a:endParaRPr>
          </a:p>
        </p:txBody>
      </p:sp>
      <p:pic>
        <p:nvPicPr>
          <p:cNvPr id="219" name="Google Shape;219;p3"/>
          <p:cNvPicPr preferRelativeResize="0"/>
          <p:nvPr/>
        </p:nvPicPr>
        <p:blipFill rotWithShape="1">
          <a:blip r:embed="rId1"/>
          <a:srcRect/>
          <a:stretch>
            <a:fillRect/>
          </a:stretch>
        </p:blipFill>
        <p:spPr>
          <a:xfrm>
            <a:off x="488005" y="197797"/>
            <a:ext cx="1066800" cy="1057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3" descr="A blue and white logo&#10;&#10;Description automatically generated"/>
          <p:cNvPicPr preferRelativeResize="0"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10461254" y="309823"/>
            <a:ext cx="1510596" cy="1092149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Date Placeholder 4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1F8F029-F8CF-407B-98BA-8DB5D1A21009}" type="datetime3">
              <a:rPr lang="en-US" smtClean="0"/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</a:fld>
            <a:endParaRPr lang="en-US"/>
          </a:p>
        </p:txBody>
      </p:sp>
      <p:pic>
        <p:nvPicPr>
          <p:cNvPr id="2" name="Picture 1"/>
          <p:cNvPicPr/>
          <p:nvPr/>
        </p:nvPicPr>
        <p:blipFill>
          <a:blip r:embed="rId3"/>
          <a:stretch>
            <a:fillRect/>
          </a:stretch>
        </p:blipFill>
        <p:spPr>
          <a:xfrm>
            <a:off x="2061845" y="310515"/>
            <a:ext cx="8068310" cy="604583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7998</Words>
  <Application>WPS Presentation</Application>
  <PresentationFormat>Widescreen</PresentationFormat>
  <Paragraphs>681</Paragraphs>
  <Slides>24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5" baseType="lpstr">
      <vt:lpstr>Arial</vt:lpstr>
      <vt:lpstr>SimSun</vt:lpstr>
      <vt:lpstr>Wingdings</vt:lpstr>
      <vt:lpstr>Arial</vt:lpstr>
      <vt:lpstr>Calibri</vt:lpstr>
      <vt:lpstr>Times New Roman</vt:lpstr>
      <vt:lpstr>Times New Roman</vt:lpstr>
      <vt:lpstr>Wingdings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SANJAY S V</dc:creator>
  <cp:lastModifiedBy>Dell</cp:lastModifiedBy>
  <cp:revision>61</cp:revision>
  <dcterms:created xsi:type="dcterms:W3CDTF">2026-04-08T06:20:00Z</dcterms:created>
  <dcterms:modified xsi:type="dcterms:W3CDTF">2026-04-15T06:59:24Z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1033-12.1.0.25830</vt:lpwstr>
  </property>
  <property fmtid="{D5CDD505-2E9C-101B-9397-08002B2CF9AE}" pid="3" name="ICV">
    <vt:lpwstr>4C7B9DFB959A42E48BD49D63970EF9E5_13</vt:lpwstr>
  </property>
</Properties>
</file>